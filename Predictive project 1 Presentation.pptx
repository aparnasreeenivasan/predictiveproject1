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8288000" cy="10287000"/>
  <p:notesSz cx="6858000" cy="9144000"/>
  <p:embeddedFontLst>
    <p:embeddedFont>
      <p:font typeface="Fraunces Bold" panose="020B0604020202020204" charset="0"/>
      <p:regular r:id="rId23"/>
    </p:embeddedFont>
    <p:embeddedFont>
      <p:font typeface="Fraunces Italics" panose="020B0604020202020204" charset="0"/>
      <p:regular r:id="rId24"/>
    </p:embeddedFont>
    <p:embeddedFont>
      <p:font typeface="Open Sauce" panose="020B0604020202020204" charset="0"/>
      <p:regular r:id="rId25"/>
    </p:embeddedFont>
    <p:embeddedFont>
      <p:font typeface="Open Sauce Bold" panose="020B0604020202020204" charset="0"/>
      <p:regular r:id="rId26"/>
    </p:embeddedFont>
    <p:embeddedFont>
      <p:font typeface="Open Sauce Italics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5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057951" y="2166620"/>
            <a:ext cx="10441688" cy="5348984"/>
            <a:chOff x="0" y="0"/>
            <a:chExt cx="663845" cy="3400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3845" cy="340069"/>
            </a:xfrm>
            <a:custGeom>
              <a:avLst/>
              <a:gdLst/>
              <a:ahLst/>
              <a:cxnLst/>
              <a:rect l="l" t="t" r="r" b="b"/>
              <a:pathLst>
                <a:path w="663845" h="340069">
                  <a:moveTo>
                    <a:pt x="460645" y="0"/>
                  </a:moveTo>
                  <a:cubicBezTo>
                    <a:pt x="572875" y="0"/>
                    <a:pt x="663845" y="76122"/>
                    <a:pt x="663845" y="170035"/>
                  </a:cubicBezTo>
                  <a:cubicBezTo>
                    <a:pt x="663845" y="263947"/>
                    <a:pt x="572875" y="340069"/>
                    <a:pt x="460645" y="340069"/>
                  </a:cubicBezTo>
                  <a:lnTo>
                    <a:pt x="203200" y="340069"/>
                  </a:lnTo>
                  <a:cubicBezTo>
                    <a:pt x="90970" y="340069"/>
                    <a:pt x="0" y="263947"/>
                    <a:pt x="0" y="170035"/>
                  </a:cubicBezTo>
                  <a:cubicBezTo>
                    <a:pt x="0" y="76122"/>
                    <a:pt x="90970" y="0"/>
                    <a:pt x="203200" y="0"/>
                  </a:cubicBezTo>
                  <a:lnTo>
                    <a:pt x="460645" y="0"/>
                  </a:lnTo>
                </a:path>
              </a:pathLst>
            </a:custGeom>
            <a:blipFill>
              <a:blip r:embed="rId2"/>
              <a:stretch>
                <a:fillRect t="-15028" b="-1502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459740" y="459740"/>
            <a:ext cx="1137920" cy="1137920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7ED3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682083" y="689199"/>
            <a:ext cx="693233" cy="679003"/>
          </a:xfrm>
          <a:custGeom>
            <a:avLst/>
            <a:gdLst/>
            <a:ahLst/>
            <a:cxnLst/>
            <a:rect l="l" t="t" r="r" b="b"/>
            <a:pathLst>
              <a:path w="693233" h="679003">
                <a:moveTo>
                  <a:pt x="0" y="0"/>
                </a:moveTo>
                <a:lnTo>
                  <a:pt x="693234" y="0"/>
                </a:lnTo>
                <a:lnTo>
                  <a:pt x="693234" y="679002"/>
                </a:lnTo>
                <a:lnTo>
                  <a:pt x="0" y="6790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375317" y="4475736"/>
            <a:ext cx="9431726" cy="2120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624"/>
              </a:lnSpc>
            </a:pPr>
            <a:r>
              <a:rPr lang="en-US" sz="4848" spc="-237">
                <a:solidFill>
                  <a:srgbClr val="E4E8DB"/>
                </a:solidFill>
                <a:latin typeface="Open Sauce"/>
                <a:ea typeface="Open Sauce"/>
                <a:cs typeface="Open Sauce"/>
                <a:sym typeface="Open Sauce"/>
              </a:rPr>
              <a:t>Kerala Flower &amp; Plant D</a:t>
            </a:r>
            <a:r>
              <a:rPr lang="en-US" sz="4848" u="none" strike="noStrike" spc="-237">
                <a:solidFill>
                  <a:srgbClr val="E4E8DB"/>
                </a:solidFill>
                <a:latin typeface="Open Sauce"/>
                <a:ea typeface="Open Sauce"/>
                <a:cs typeface="Open Sauce"/>
                <a:sym typeface="Open Sauce"/>
              </a:rPr>
              <a:t>isease Classification Using Color and Texture Features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75317" y="1744058"/>
            <a:ext cx="8282907" cy="2432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54"/>
              </a:lnSpc>
            </a:pPr>
            <a:r>
              <a:rPr lang="en-US" sz="6967" i="1">
                <a:solidFill>
                  <a:srgbClr val="B7ED3F"/>
                </a:solidFill>
                <a:latin typeface="Fraunces Italics"/>
                <a:ea typeface="Fraunces Italics"/>
                <a:cs typeface="Fraunces Italics"/>
                <a:sym typeface="Fraunces Italics"/>
              </a:rPr>
              <a:t>Predictive Analytics</a:t>
            </a:r>
          </a:p>
          <a:p>
            <a:pPr algn="l">
              <a:lnSpc>
                <a:spcPts val="9754"/>
              </a:lnSpc>
              <a:spcBef>
                <a:spcPct val="0"/>
              </a:spcBef>
            </a:pPr>
            <a:r>
              <a:rPr lang="en-US" sz="6967" i="1">
                <a:solidFill>
                  <a:srgbClr val="B7ED3F"/>
                </a:solidFill>
                <a:latin typeface="Fraunces Italics"/>
                <a:ea typeface="Fraunces Italics"/>
                <a:cs typeface="Fraunces Italics"/>
                <a:sym typeface="Fraunces Italics"/>
              </a:rPr>
              <a:t>Project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75317" y="7457440"/>
            <a:ext cx="5936754" cy="180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Group Members: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Aparna Sreenivasan (253204) - Bio-AI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Ayana Santhosh Khan (253217)-Bio-AI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Shiha Shajahan (253310)-Gis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80036" y="2358821"/>
            <a:ext cx="6427138" cy="4666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32"/>
              </a:lnSpc>
            </a:pPr>
            <a:r>
              <a:rPr lang="en-US" sz="3064">
                <a:solidFill>
                  <a:srgbClr val="C2C2C2"/>
                </a:solidFill>
                <a:latin typeface="Open Sauce"/>
                <a:ea typeface="Open Sauce"/>
                <a:cs typeface="Open Sauce"/>
                <a:sym typeface="Open Sauce"/>
              </a:rPr>
              <a:t>1. Problem Statement</a:t>
            </a:r>
          </a:p>
          <a:p>
            <a:pPr algn="l">
              <a:lnSpc>
                <a:spcPts val="5332"/>
              </a:lnSpc>
            </a:pPr>
            <a:r>
              <a:rPr lang="en-US" sz="3064">
                <a:solidFill>
                  <a:srgbClr val="C2C2C2"/>
                </a:solidFill>
                <a:latin typeface="Open Sauce"/>
                <a:ea typeface="Open Sauce"/>
                <a:cs typeface="Open Sauce"/>
                <a:sym typeface="Open Sauce"/>
              </a:rPr>
              <a:t>2. Objective</a:t>
            </a:r>
          </a:p>
          <a:p>
            <a:pPr algn="l">
              <a:lnSpc>
                <a:spcPts val="5332"/>
              </a:lnSpc>
            </a:pPr>
            <a:r>
              <a:rPr lang="en-US" sz="3064">
                <a:solidFill>
                  <a:srgbClr val="C2C2C2"/>
                </a:solidFill>
                <a:latin typeface="Open Sauce"/>
                <a:ea typeface="Open Sauce"/>
                <a:cs typeface="Open Sauce"/>
                <a:sym typeface="Open Sauce"/>
              </a:rPr>
              <a:t>3. Dataset Overview</a:t>
            </a:r>
          </a:p>
          <a:p>
            <a:pPr algn="l">
              <a:lnSpc>
                <a:spcPts val="5332"/>
              </a:lnSpc>
            </a:pPr>
            <a:r>
              <a:rPr lang="en-US" sz="3064">
                <a:solidFill>
                  <a:srgbClr val="C2C2C2"/>
                </a:solidFill>
                <a:latin typeface="Open Sauce"/>
                <a:ea typeface="Open Sauce"/>
                <a:cs typeface="Open Sauce"/>
                <a:sym typeface="Open Sauce"/>
              </a:rPr>
              <a:t>4. Methdology</a:t>
            </a:r>
          </a:p>
          <a:p>
            <a:pPr algn="l">
              <a:lnSpc>
                <a:spcPts val="5332"/>
              </a:lnSpc>
            </a:pPr>
            <a:r>
              <a:rPr lang="en-US" sz="3064">
                <a:solidFill>
                  <a:srgbClr val="C2C2C2"/>
                </a:solidFill>
                <a:latin typeface="Open Sauce"/>
                <a:ea typeface="Open Sauce"/>
                <a:cs typeface="Open Sauce"/>
                <a:sym typeface="Open Sauce"/>
              </a:rPr>
              <a:t>5. Data Preprocessing</a:t>
            </a:r>
          </a:p>
          <a:p>
            <a:pPr algn="l">
              <a:lnSpc>
                <a:spcPts val="5332"/>
              </a:lnSpc>
            </a:pPr>
            <a:r>
              <a:rPr lang="en-US" sz="3064">
                <a:solidFill>
                  <a:srgbClr val="C2C2C2"/>
                </a:solidFill>
                <a:latin typeface="Open Sauce"/>
                <a:ea typeface="Open Sauce"/>
                <a:cs typeface="Open Sauce"/>
                <a:sym typeface="Open Sauce"/>
              </a:rPr>
              <a:t>6. Feature Extraction</a:t>
            </a:r>
          </a:p>
          <a:p>
            <a:pPr algn="l">
              <a:lnSpc>
                <a:spcPts val="5332"/>
              </a:lnSpc>
            </a:pPr>
            <a:r>
              <a:rPr lang="en-US" sz="3064">
                <a:solidFill>
                  <a:srgbClr val="C2C2C2"/>
                </a:solidFill>
                <a:latin typeface="Open Sauce"/>
                <a:ea typeface="Open Sauce"/>
                <a:cs typeface="Open Sauce"/>
                <a:sym typeface="Open Sauce"/>
              </a:rPr>
              <a:t>7. Feature Selection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80036" y="492707"/>
            <a:ext cx="7129725" cy="967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54"/>
              </a:lnSpc>
              <a:spcBef>
                <a:spcPct val="0"/>
              </a:spcBef>
            </a:pPr>
            <a:r>
              <a:rPr lang="en-US" sz="5681" i="1">
                <a:solidFill>
                  <a:srgbClr val="B7ED3F"/>
                </a:solidFill>
                <a:latin typeface="Fraunces Italics"/>
                <a:ea typeface="Fraunces Italics"/>
                <a:cs typeface="Fraunces Italics"/>
                <a:sym typeface="Fraunces Italics"/>
              </a:rPr>
              <a:t>Presentation Outline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09761" y="2273096"/>
            <a:ext cx="6412005" cy="4660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76"/>
              </a:lnSpc>
            </a:pPr>
            <a:r>
              <a:rPr lang="en-US" sz="3061">
                <a:solidFill>
                  <a:srgbClr val="C2C2C2"/>
                </a:solidFill>
                <a:latin typeface="Open Sauce"/>
                <a:ea typeface="Open Sauce"/>
                <a:cs typeface="Open Sauce"/>
                <a:sym typeface="Open Sauce"/>
              </a:rPr>
              <a:t>8. Model training </a:t>
            </a:r>
          </a:p>
          <a:p>
            <a:pPr algn="l">
              <a:lnSpc>
                <a:spcPts val="6276"/>
              </a:lnSpc>
            </a:pPr>
            <a:r>
              <a:rPr lang="en-US" sz="3061">
                <a:solidFill>
                  <a:srgbClr val="C2C2C2"/>
                </a:solidFill>
                <a:latin typeface="Open Sauce"/>
                <a:ea typeface="Open Sauce"/>
                <a:cs typeface="Open Sauce"/>
                <a:sym typeface="Open Sauce"/>
              </a:rPr>
              <a:t>9.Evaluation metrics and results</a:t>
            </a:r>
          </a:p>
          <a:p>
            <a:pPr algn="l">
              <a:lnSpc>
                <a:spcPts val="6276"/>
              </a:lnSpc>
            </a:pPr>
            <a:r>
              <a:rPr lang="en-US" sz="3061">
                <a:solidFill>
                  <a:srgbClr val="C2C2C2"/>
                </a:solidFill>
                <a:latin typeface="Open Sauce"/>
                <a:ea typeface="Open Sauce"/>
                <a:cs typeface="Open Sauce"/>
                <a:sym typeface="Open Sauce"/>
              </a:rPr>
              <a:t>10.Visualization</a:t>
            </a:r>
          </a:p>
          <a:p>
            <a:pPr algn="l">
              <a:lnSpc>
                <a:spcPts val="6276"/>
              </a:lnSpc>
            </a:pPr>
            <a:r>
              <a:rPr lang="en-US" sz="3061">
                <a:solidFill>
                  <a:srgbClr val="C2C2C2"/>
                </a:solidFill>
                <a:latin typeface="Open Sauce"/>
                <a:ea typeface="Open Sauce"/>
                <a:cs typeface="Open Sauce"/>
                <a:sym typeface="Open Sauce"/>
              </a:rPr>
              <a:t>11. Deployed Application</a:t>
            </a:r>
          </a:p>
          <a:p>
            <a:pPr algn="l">
              <a:lnSpc>
                <a:spcPts val="6276"/>
              </a:lnSpc>
            </a:pPr>
            <a:r>
              <a:rPr lang="en-US" sz="3061">
                <a:solidFill>
                  <a:srgbClr val="C2C2C2"/>
                </a:solidFill>
                <a:latin typeface="Open Sauce"/>
                <a:ea typeface="Open Sauce"/>
                <a:cs typeface="Open Sauce"/>
                <a:sym typeface="Open Sauce"/>
              </a:rPr>
              <a:t>12.Conclusion</a:t>
            </a:r>
          </a:p>
          <a:p>
            <a:pPr algn="l">
              <a:lnSpc>
                <a:spcPts val="6276"/>
              </a:lnSpc>
            </a:pPr>
            <a:r>
              <a:rPr lang="en-US" sz="3061">
                <a:solidFill>
                  <a:srgbClr val="C2C2C2"/>
                </a:solidFill>
                <a:latin typeface="Open Sauce"/>
                <a:ea typeface="Open Sauce"/>
                <a:cs typeface="Open Sauce"/>
                <a:sym typeface="Open Sauce"/>
              </a:rPr>
              <a:t>13.Future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8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584301" y="799865"/>
            <a:ext cx="7285333" cy="7694511"/>
          </a:xfrm>
          <a:custGeom>
            <a:avLst/>
            <a:gdLst/>
            <a:ahLst/>
            <a:cxnLst/>
            <a:rect l="l" t="t" r="r" b="b"/>
            <a:pathLst>
              <a:path w="7285333" h="7694511">
                <a:moveTo>
                  <a:pt x="0" y="0"/>
                </a:moveTo>
                <a:lnTo>
                  <a:pt x="7285333" y="0"/>
                </a:lnTo>
                <a:lnTo>
                  <a:pt x="7285333" y="7694512"/>
                </a:lnTo>
                <a:lnTo>
                  <a:pt x="0" y="76945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08" r="-2808"/>
            </a:stretch>
          </a:blipFill>
          <a:ln cap="sq">
            <a:noFill/>
            <a:prstDash val="solid"/>
            <a:miter/>
          </a:ln>
        </p:spPr>
      </p:sp>
      <p:sp>
        <p:nvSpPr>
          <p:cNvPr id="3" name="TextBox 3"/>
          <p:cNvSpPr txBox="1"/>
          <p:nvPr/>
        </p:nvSpPr>
        <p:spPr>
          <a:xfrm>
            <a:off x="891018" y="914400"/>
            <a:ext cx="8601232" cy="1036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04"/>
              </a:lnSpc>
              <a:spcBef>
                <a:spcPct val="0"/>
              </a:spcBef>
            </a:pPr>
            <a:r>
              <a:rPr lang="en-US" sz="6074" i="1">
                <a:solidFill>
                  <a:srgbClr val="13664F"/>
                </a:solidFill>
                <a:latin typeface="Fraunces Italics"/>
                <a:ea typeface="Fraunces Italics"/>
                <a:cs typeface="Fraunces Italics"/>
                <a:sym typeface="Fraunces Italics"/>
              </a:rPr>
              <a:t>Problem  Statement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91018" y="6596311"/>
            <a:ext cx="6908220" cy="461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5"/>
              </a:lnSpc>
            </a:pPr>
            <a:r>
              <a:rPr lang="en-US" sz="3736" b="1">
                <a:solidFill>
                  <a:srgbClr val="052F3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Some of the plant diseases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91018" y="2733956"/>
            <a:ext cx="6286210" cy="461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5"/>
              </a:lnSpc>
            </a:pPr>
            <a:r>
              <a:rPr lang="en-US" sz="3736" b="1">
                <a:solidFill>
                  <a:srgbClr val="052F3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Agricultural Challenge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91018" y="7358093"/>
            <a:ext cx="8601232" cy="1552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4" lvl="1" indent="-323847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656665"/>
                </a:solidFill>
                <a:latin typeface="Open Sauce"/>
                <a:ea typeface="Open Sauce"/>
                <a:cs typeface="Open Sauce"/>
                <a:sym typeface="Open Sauce"/>
              </a:rPr>
              <a:t>Leaf Mold</a:t>
            </a:r>
          </a:p>
          <a:p>
            <a:pPr marL="647694" lvl="1" indent="-323847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656665"/>
                </a:solidFill>
                <a:latin typeface="Open Sauce"/>
                <a:ea typeface="Open Sauce"/>
                <a:cs typeface="Open Sauce"/>
                <a:sym typeface="Open Sauce"/>
              </a:rPr>
              <a:t>Early blight</a:t>
            </a:r>
          </a:p>
          <a:p>
            <a:pPr marL="647694" lvl="1" indent="-323847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656665"/>
                </a:solidFill>
                <a:latin typeface="Open Sauce"/>
                <a:ea typeface="Open Sauce"/>
                <a:cs typeface="Open Sauce"/>
                <a:sym typeface="Open Sauce"/>
              </a:rPr>
              <a:t>Late blight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91018" y="3318383"/>
            <a:ext cx="8603172" cy="2600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4" lvl="1" indent="-323847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656665"/>
                </a:solidFill>
                <a:latin typeface="Open Sauce"/>
                <a:ea typeface="Open Sauce"/>
                <a:cs typeface="Open Sauce"/>
                <a:sym typeface="Open Sauce"/>
              </a:rPr>
              <a:t>Plant diseases causes crop loss and can affect the crop quality and reduce agricultural productivity</a:t>
            </a:r>
          </a:p>
          <a:p>
            <a:pPr marL="647694" lvl="1" indent="-323847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656665"/>
                </a:solidFill>
                <a:latin typeface="Open Sauce"/>
                <a:ea typeface="Open Sauce"/>
                <a:cs typeface="Open Sauce"/>
                <a:sym typeface="Open Sauce"/>
              </a:rPr>
              <a:t>Manual disease detection is time consuming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8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14400"/>
            <a:ext cx="8601232" cy="1036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04"/>
              </a:lnSpc>
              <a:spcBef>
                <a:spcPct val="0"/>
              </a:spcBef>
            </a:pPr>
            <a:r>
              <a:rPr lang="en-US" sz="6074" i="1">
                <a:solidFill>
                  <a:srgbClr val="13664F"/>
                </a:solidFill>
                <a:latin typeface="Fraunces Italics"/>
                <a:ea typeface="Fraunces Italics"/>
                <a:cs typeface="Fraunces Italics"/>
                <a:sym typeface="Fraunces Italics"/>
              </a:rPr>
              <a:t>Objective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353109"/>
            <a:ext cx="11718832" cy="5208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4" lvl="1" indent="-323847" algn="l">
              <a:lnSpc>
                <a:spcPts val="6989"/>
              </a:lnSpc>
              <a:buFont typeface="Arial"/>
              <a:buChar char="•"/>
            </a:pPr>
            <a:r>
              <a:rPr lang="en-US" sz="2999">
                <a:solidFill>
                  <a:srgbClr val="656665"/>
                </a:solidFill>
                <a:latin typeface="Open Sauce"/>
                <a:ea typeface="Open Sauce"/>
                <a:cs typeface="Open Sauce"/>
                <a:sym typeface="Open Sauce"/>
              </a:rPr>
              <a:t>Use of machine learning model for plant disease detection </a:t>
            </a:r>
          </a:p>
          <a:p>
            <a:pPr marL="647694" lvl="1" indent="-323847" algn="l">
              <a:lnSpc>
                <a:spcPts val="6989"/>
              </a:lnSpc>
              <a:buFont typeface="Arial"/>
              <a:buChar char="•"/>
            </a:pPr>
            <a:r>
              <a:rPr lang="en-US" sz="2999">
                <a:solidFill>
                  <a:srgbClr val="656665"/>
                </a:solidFill>
                <a:latin typeface="Open Sauce"/>
                <a:ea typeface="Open Sauce"/>
                <a:cs typeface="Open Sauce"/>
                <a:sym typeface="Open Sauce"/>
              </a:rPr>
              <a:t>It uses the leaf images for the disease prediction</a:t>
            </a:r>
          </a:p>
          <a:p>
            <a:pPr marL="647694" lvl="1" indent="-323847" algn="l">
              <a:lnSpc>
                <a:spcPts val="6989"/>
              </a:lnSpc>
              <a:buFont typeface="Arial"/>
              <a:buChar char="•"/>
            </a:pPr>
            <a:r>
              <a:rPr lang="en-US" sz="2999">
                <a:solidFill>
                  <a:srgbClr val="656665"/>
                </a:solidFill>
                <a:latin typeface="Open Sauce"/>
                <a:ea typeface="Open Sauce"/>
                <a:cs typeface="Open Sauce"/>
                <a:sym typeface="Open Sauce"/>
              </a:rPr>
              <a:t>Accessible via the browser</a:t>
            </a:r>
          </a:p>
          <a:p>
            <a:pPr marL="647694" lvl="1" indent="-323847" algn="l">
              <a:lnSpc>
                <a:spcPts val="6989"/>
              </a:lnSpc>
              <a:buFont typeface="Arial"/>
              <a:buChar char="•"/>
            </a:pPr>
            <a:r>
              <a:rPr lang="en-US" sz="2999">
                <a:solidFill>
                  <a:srgbClr val="656665"/>
                </a:solidFill>
                <a:latin typeface="Open Sauce"/>
                <a:ea typeface="Open Sauce"/>
                <a:cs typeface="Open Sauce"/>
                <a:sym typeface="Open Sauce"/>
              </a:rPr>
              <a:t>Easy to use</a:t>
            </a:r>
          </a:p>
          <a:p>
            <a:pPr algn="l">
              <a:lnSpc>
                <a:spcPts val="6989"/>
              </a:lnSpc>
            </a:pPr>
            <a:endParaRPr lang="en-US" sz="2999">
              <a:solidFill>
                <a:srgbClr val="656665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6989"/>
              </a:lnSpc>
            </a:pPr>
            <a:endParaRPr lang="en-US" sz="2999">
              <a:solidFill>
                <a:srgbClr val="656665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4123561" y="0"/>
            <a:ext cx="3949128" cy="3432151"/>
          </a:xfrm>
          <a:custGeom>
            <a:avLst/>
            <a:gdLst/>
            <a:ahLst/>
            <a:cxnLst/>
            <a:rect l="l" t="t" r="r" b="b"/>
            <a:pathLst>
              <a:path w="3949128" h="3432151">
                <a:moveTo>
                  <a:pt x="0" y="0"/>
                </a:moveTo>
                <a:lnTo>
                  <a:pt x="3949128" y="0"/>
                </a:lnTo>
                <a:lnTo>
                  <a:pt x="3949128" y="3432151"/>
                </a:lnTo>
                <a:lnTo>
                  <a:pt x="0" y="34321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8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91018" y="914400"/>
            <a:ext cx="8601232" cy="1036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04"/>
              </a:lnSpc>
              <a:spcBef>
                <a:spcPct val="0"/>
              </a:spcBef>
            </a:pPr>
            <a:r>
              <a:rPr lang="en-US" sz="6074" i="1">
                <a:solidFill>
                  <a:srgbClr val="13664F"/>
                </a:solidFill>
                <a:latin typeface="Fraunces Italics"/>
                <a:ea typeface="Fraunces Italics"/>
                <a:cs typeface="Fraunces Italics"/>
                <a:sym typeface="Fraunces Italics"/>
              </a:rPr>
              <a:t>Overview of the Dataset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91018" y="2562506"/>
            <a:ext cx="9970425" cy="506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10"/>
              </a:lnSpc>
            </a:pPr>
            <a:r>
              <a:rPr lang="en-US" sz="2936" b="1">
                <a:solidFill>
                  <a:srgbClr val="052F3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Dataset used - PlantVillage Dataset (From Kaggle)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077" y="3314700"/>
            <a:ext cx="11718832" cy="4935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4" lvl="1" indent="-323847" algn="l">
              <a:lnSpc>
                <a:spcPts val="6659"/>
              </a:lnSpc>
              <a:buFont typeface="Arial"/>
              <a:buChar char="•"/>
            </a:pPr>
            <a:r>
              <a:rPr lang="en-US" sz="2999">
                <a:solidFill>
                  <a:srgbClr val="656665"/>
                </a:solidFill>
                <a:latin typeface="Open Sauce"/>
                <a:ea typeface="Open Sauce"/>
                <a:cs typeface="Open Sauce"/>
                <a:sym typeface="Open Sauce"/>
              </a:rPr>
              <a:t>Containing 54,305 images across 38 different disease classes.</a:t>
            </a:r>
          </a:p>
          <a:p>
            <a:pPr marL="647694" lvl="1" indent="-323847" algn="l">
              <a:lnSpc>
                <a:spcPts val="6659"/>
              </a:lnSpc>
              <a:buFont typeface="Arial"/>
              <a:buChar char="•"/>
            </a:pPr>
            <a:r>
              <a:rPr lang="en-US" sz="2999">
                <a:solidFill>
                  <a:srgbClr val="656665"/>
                </a:solidFill>
                <a:latin typeface="Open Sauce"/>
                <a:ea typeface="Open Sauce"/>
                <a:cs typeface="Open Sauce"/>
                <a:sym typeface="Open Sauce"/>
              </a:rPr>
              <a:t>This includes multiple crops like tomato, potato, and apple, with various diseases such as early blight, late blight, and healthy leaves.</a:t>
            </a:r>
          </a:p>
          <a:p>
            <a:pPr algn="l">
              <a:lnSpc>
                <a:spcPts val="6659"/>
              </a:lnSpc>
            </a:pPr>
            <a:endParaRPr lang="en-US" sz="2999">
              <a:solidFill>
                <a:srgbClr val="656665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8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17217" y="2508193"/>
            <a:ext cx="5645263" cy="5645263"/>
          </a:xfrm>
          <a:custGeom>
            <a:avLst/>
            <a:gdLst/>
            <a:ahLst/>
            <a:cxnLst/>
            <a:rect l="l" t="t" r="r" b="b"/>
            <a:pathLst>
              <a:path w="5645263" h="5645263">
                <a:moveTo>
                  <a:pt x="0" y="0"/>
                </a:moveTo>
                <a:lnTo>
                  <a:pt x="5645262" y="0"/>
                </a:lnTo>
                <a:lnTo>
                  <a:pt x="5645262" y="5645263"/>
                </a:lnTo>
                <a:lnTo>
                  <a:pt x="0" y="56452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047679" y="2947354"/>
            <a:ext cx="4114800" cy="422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 cleaning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-1026764" y="5095875"/>
            <a:ext cx="14263688" cy="422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Preprocessing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-834737" y="7225470"/>
            <a:ext cx="14263688" cy="422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Feature extraction</a:t>
            </a:r>
          </a:p>
        </p:txBody>
      </p:sp>
      <p:sp>
        <p:nvSpPr>
          <p:cNvPr id="6" name="Freeform 6"/>
          <p:cNvSpPr/>
          <p:nvPr/>
        </p:nvSpPr>
        <p:spPr>
          <a:xfrm>
            <a:off x="10035909" y="2761307"/>
            <a:ext cx="5513684" cy="5513684"/>
          </a:xfrm>
          <a:custGeom>
            <a:avLst/>
            <a:gdLst/>
            <a:ahLst/>
            <a:cxnLst/>
            <a:rect l="l" t="t" r="r" b="b"/>
            <a:pathLst>
              <a:path w="5513684" h="5513684">
                <a:moveTo>
                  <a:pt x="0" y="0"/>
                </a:moveTo>
                <a:lnTo>
                  <a:pt x="5513684" y="0"/>
                </a:lnTo>
                <a:lnTo>
                  <a:pt x="5513684" y="5513684"/>
                </a:lnTo>
                <a:lnTo>
                  <a:pt x="0" y="5513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2403763" y="2947354"/>
            <a:ext cx="2050375" cy="422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b="1" spc="-122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Model training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105079" y="5161665"/>
            <a:ext cx="14263688" cy="422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Evaluation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297107" y="7242174"/>
            <a:ext cx="14263688" cy="422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Deployment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914400"/>
            <a:ext cx="8601232" cy="1036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04"/>
              </a:lnSpc>
              <a:spcBef>
                <a:spcPct val="0"/>
              </a:spcBef>
            </a:pPr>
            <a:r>
              <a:rPr lang="en-US" sz="6074" i="1">
                <a:solidFill>
                  <a:srgbClr val="13664F"/>
                </a:solidFill>
                <a:latin typeface="Fraunces Italics"/>
                <a:ea typeface="Fraunces Italics"/>
                <a:cs typeface="Fraunces Italics"/>
                <a:sym typeface="Fraunces Italics"/>
              </a:rPr>
              <a:t>Methodology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8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91018" y="914400"/>
            <a:ext cx="8601232" cy="1036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04"/>
              </a:lnSpc>
              <a:spcBef>
                <a:spcPct val="0"/>
              </a:spcBef>
            </a:pPr>
            <a:r>
              <a:rPr lang="en-US" sz="6074" i="1">
                <a:solidFill>
                  <a:srgbClr val="13664F"/>
                </a:solidFill>
                <a:latin typeface="Fraunces Italics"/>
                <a:ea typeface="Fraunces Italics"/>
                <a:cs typeface="Fraunces Italics"/>
                <a:sym typeface="Fraunces Italics"/>
              </a:rPr>
              <a:t>Data preprocessing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91018" y="2319341"/>
            <a:ext cx="13729949" cy="4716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3155" lvl="1" indent="-331577" algn="l">
              <a:lnSpc>
                <a:spcPts val="7678"/>
              </a:lnSpc>
              <a:buAutoNum type="arabicPeriod"/>
            </a:pPr>
            <a:r>
              <a:rPr lang="en-US" sz="3071">
                <a:solidFill>
                  <a:srgbClr val="656665"/>
                </a:solidFill>
                <a:latin typeface="Open Sauce"/>
                <a:ea typeface="Open Sauce"/>
                <a:cs typeface="Open Sauce"/>
                <a:sym typeface="Open Sauce"/>
              </a:rPr>
              <a:t>Loading all the images</a:t>
            </a:r>
          </a:p>
          <a:p>
            <a:pPr marL="663155" lvl="1" indent="-331577" algn="l">
              <a:lnSpc>
                <a:spcPts val="7678"/>
              </a:lnSpc>
              <a:buAutoNum type="arabicPeriod"/>
            </a:pPr>
            <a:r>
              <a:rPr lang="en-US" sz="3071">
                <a:solidFill>
                  <a:srgbClr val="656665"/>
                </a:solidFill>
                <a:latin typeface="Open Sauce"/>
                <a:ea typeface="Open Sauce"/>
                <a:cs typeface="Open Sauce"/>
                <a:sym typeface="Open Sauce"/>
              </a:rPr>
              <a:t>Cleaning the data - Remove the corrupted images</a:t>
            </a:r>
          </a:p>
          <a:p>
            <a:pPr marL="663155" lvl="1" indent="-331577" algn="l">
              <a:lnSpc>
                <a:spcPts val="7678"/>
              </a:lnSpc>
              <a:buAutoNum type="arabicPeriod"/>
            </a:pPr>
            <a:r>
              <a:rPr lang="en-US" sz="3071">
                <a:solidFill>
                  <a:srgbClr val="656665"/>
                </a:solidFill>
                <a:latin typeface="Open Sauce"/>
                <a:ea typeface="Open Sauce"/>
                <a:cs typeface="Open Sauce"/>
                <a:sym typeface="Open Sauce"/>
              </a:rPr>
              <a:t>Resizing the images - Make all the images into 128×128 pixels</a:t>
            </a:r>
          </a:p>
          <a:p>
            <a:pPr marL="663155" lvl="1" indent="-331577" algn="l">
              <a:lnSpc>
                <a:spcPts val="7678"/>
              </a:lnSpc>
              <a:buAutoNum type="arabicPeriod"/>
            </a:pPr>
            <a:r>
              <a:rPr lang="en-US" sz="3071">
                <a:solidFill>
                  <a:srgbClr val="656665"/>
                </a:solidFill>
                <a:latin typeface="Open Sauce"/>
                <a:ea typeface="Open Sauce"/>
                <a:cs typeface="Open Sauce"/>
                <a:sym typeface="Open Sauce"/>
              </a:rPr>
              <a:t>Color conversion - BGR to  HSV color space</a:t>
            </a:r>
          </a:p>
          <a:p>
            <a:pPr marL="663155" lvl="1" indent="-331577" algn="l">
              <a:lnSpc>
                <a:spcPts val="7678"/>
              </a:lnSpc>
              <a:buAutoNum type="arabicPeriod"/>
            </a:pPr>
            <a:r>
              <a:rPr lang="en-US" sz="3071">
                <a:solidFill>
                  <a:srgbClr val="656665"/>
                </a:solidFill>
                <a:latin typeface="Open Sauce"/>
                <a:ea typeface="Open Sauce"/>
                <a:cs typeface="Open Sauce"/>
                <a:sym typeface="Open Sauce"/>
              </a:rPr>
              <a:t>Label encoding - Text labels to Number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8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84642" y="1265381"/>
            <a:ext cx="9714993" cy="1036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504"/>
              </a:lnSpc>
              <a:spcBef>
                <a:spcPct val="0"/>
              </a:spcBef>
            </a:pPr>
            <a:r>
              <a:rPr lang="en-US" sz="6074" i="1" u="none" strike="noStrike">
                <a:solidFill>
                  <a:srgbClr val="13664F"/>
                </a:solidFill>
                <a:latin typeface="Fraunces Italics"/>
                <a:ea typeface="Fraunces Italics"/>
                <a:cs typeface="Fraunces Italics"/>
                <a:sym typeface="Fraunces Italics"/>
              </a:rPr>
              <a:t>Feature Extraction</a:t>
            </a:r>
          </a:p>
        </p:txBody>
      </p:sp>
      <p:sp>
        <p:nvSpPr>
          <p:cNvPr id="3" name="Freeform 3"/>
          <p:cNvSpPr/>
          <p:nvPr/>
        </p:nvSpPr>
        <p:spPr>
          <a:xfrm rot="6915970">
            <a:off x="15381275" y="3379149"/>
            <a:ext cx="4307473" cy="2632943"/>
          </a:xfrm>
          <a:custGeom>
            <a:avLst/>
            <a:gdLst/>
            <a:ahLst/>
            <a:cxnLst/>
            <a:rect l="l" t="t" r="r" b="b"/>
            <a:pathLst>
              <a:path w="4307473" h="2632943">
                <a:moveTo>
                  <a:pt x="0" y="0"/>
                </a:moveTo>
                <a:lnTo>
                  <a:pt x="4307473" y="0"/>
                </a:lnTo>
                <a:lnTo>
                  <a:pt x="4307473" y="2632943"/>
                </a:lnTo>
                <a:lnTo>
                  <a:pt x="0" y="26329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3592471">
            <a:off x="-494472" y="448642"/>
            <a:ext cx="3046345" cy="1862078"/>
          </a:xfrm>
          <a:custGeom>
            <a:avLst/>
            <a:gdLst/>
            <a:ahLst/>
            <a:cxnLst/>
            <a:rect l="l" t="t" r="r" b="b"/>
            <a:pathLst>
              <a:path w="3046345" h="1862078">
                <a:moveTo>
                  <a:pt x="0" y="0"/>
                </a:moveTo>
                <a:lnTo>
                  <a:pt x="3046344" y="0"/>
                </a:lnTo>
                <a:lnTo>
                  <a:pt x="3046344" y="1862078"/>
                </a:lnTo>
                <a:lnTo>
                  <a:pt x="0" y="18620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684642" y="2529989"/>
            <a:ext cx="11207684" cy="6513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76"/>
              </a:lnSpc>
              <a:spcBef>
                <a:spcPct val="0"/>
              </a:spcBef>
            </a:pPr>
            <a:r>
              <a:rPr lang="en-US" sz="3687" u="none" strike="noStrike">
                <a:solidFill>
                  <a:srgbClr val="656665"/>
                </a:solidFill>
                <a:latin typeface="Open Sauce"/>
                <a:ea typeface="Open Sauce"/>
                <a:cs typeface="Open Sauce"/>
                <a:sym typeface="Open Sauce"/>
              </a:rPr>
              <a:t>Extracted three features:</a:t>
            </a:r>
          </a:p>
          <a:p>
            <a:pPr marL="796134" lvl="1" indent="-398067" algn="l">
              <a:lnSpc>
                <a:spcPts val="8776"/>
              </a:lnSpc>
              <a:spcBef>
                <a:spcPct val="0"/>
              </a:spcBef>
              <a:buAutoNum type="arabicPeriod"/>
            </a:pPr>
            <a:r>
              <a:rPr lang="en-US" sz="3687" u="none" strike="noStrike">
                <a:solidFill>
                  <a:srgbClr val="656665"/>
                </a:solidFill>
                <a:latin typeface="Open Sauce"/>
                <a:ea typeface="Open Sauce"/>
                <a:cs typeface="Open Sauce"/>
                <a:sym typeface="Open Sauce"/>
              </a:rPr>
              <a:t>Color Features → HSV Histogram</a:t>
            </a:r>
          </a:p>
          <a:p>
            <a:pPr marL="796134" lvl="1" indent="-398067" algn="l">
              <a:lnSpc>
                <a:spcPts val="8776"/>
              </a:lnSpc>
              <a:spcBef>
                <a:spcPct val="0"/>
              </a:spcBef>
              <a:buAutoNum type="arabicPeriod"/>
            </a:pPr>
            <a:r>
              <a:rPr lang="en-US" sz="3687" u="none" strike="noStrike">
                <a:solidFill>
                  <a:srgbClr val="656665"/>
                </a:solidFill>
                <a:latin typeface="Open Sauce"/>
                <a:ea typeface="Open Sauce"/>
                <a:cs typeface="Open Sauce"/>
                <a:sym typeface="Open Sauce"/>
              </a:rPr>
              <a:t> Texture Features → Local Binary Pattern (LBP)</a:t>
            </a:r>
          </a:p>
          <a:p>
            <a:pPr marL="796134" lvl="1" indent="-398067" algn="l">
              <a:lnSpc>
                <a:spcPts val="8776"/>
              </a:lnSpc>
              <a:spcBef>
                <a:spcPct val="0"/>
              </a:spcBef>
              <a:buAutoNum type="arabicPeriod"/>
            </a:pPr>
            <a:r>
              <a:rPr lang="en-US" sz="3687" u="none" strike="noStrike">
                <a:solidFill>
                  <a:srgbClr val="656665"/>
                </a:solidFill>
                <a:latin typeface="Open Sauce"/>
                <a:ea typeface="Open Sauce"/>
                <a:cs typeface="Open Sauce"/>
                <a:sym typeface="Open Sauce"/>
              </a:rPr>
              <a:t> Shape Features → Hu Moments</a:t>
            </a:r>
          </a:p>
          <a:p>
            <a:pPr algn="l">
              <a:lnSpc>
                <a:spcPts val="8776"/>
              </a:lnSpc>
              <a:spcBef>
                <a:spcPct val="0"/>
              </a:spcBef>
            </a:pPr>
            <a:endParaRPr lang="en-US" sz="3687" u="none" strike="noStrike">
              <a:solidFill>
                <a:srgbClr val="656665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8776"/>
              </a:lnSpc>
              <a:spcBef>
                <a:spcPct val="0"/>
              </a:spcBef>
            </a:pPr>
            <a:r>
              <a:rPr lang="en-US" sz="3687" u="none" strike="noStrike">
                <a:solidFill>
                  <a:srgbClr val="656665"/>
                </a:solidFill>
                <a:latin typeface="Open Sauce"/>
                <a:ea typeface="Open Sauce"/>
                <a:cs typeface="Open Sauce"/>
                <a:sym typeface="Open Sauce"/>
              </a:rPr>
              <a:t>Total: 801 features per image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8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84642" y="453386"/>
            <a:ext cx="9714993" cy="1036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504"/>
              </a:lnSpc>
              <a:spcBef>
                <a:spcPct val="0"/>
              </a:spcBef>
            </a:pPr>
            <a:r>
              <a:rPr lang="en-US" sz="6074" i="1" u="none" strike="noStrike">
                <a:solidFill>
                  <a:srgbClr val="13664F"/>
                </a:solidFill>
                <a:latin typeface="Fraunces Italics"/>
                <a:ea typeface="Fraunces Italics"/>
                <a:cs typeface="Fraunces Italics"/>
                <a:sym typeface="Fraunces Italics"/>
              </a:rPr>
              <a:t>Feature Extraction</a:t>
            </a:r>
          </a:p>
        </p:txBody>
      </p:sp>
      <p:sp>
        <p:nvSpPr>
          <p:cNvPr id="3" name="Freeform 3"/>
          <p:cNvSpPr/>
          <p:nvPr/>
        </p:nvSpPr>
        <p:spPr>
          <a:xfrm rot="6915970">
            <a:off x="15381275" y="3379149"/>
            <a:ext cx="4307473" cy="2632943"/>
          </a:xfrm>
          <a:custGeom>
            <a:avLst/>
            <a:gdLst/>
            <a:ahLst/>
            <a:cxnLst/>
            <a:rect l="l" t="t" r="r" b="b"/>
            <a:pathLst>
              <a:path w="4307473" h="2632943">
                <a:moveTo>
                  <a:pt x="0" y="0"/>
                </a:moveTo>
                <a:lnTo>
                  <a:pt x="4307473" y="0"/>
                </a:lnTo>
                <a:lnTo>
                  <a:pt x="4307473" y="2632943"/>
                </a:lnTo>
                <a:lnTo>
                  <a:pt x="0" y="26329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3592471">
            <a:off x="-494472" y="448642"/>
            <a:ext cx="3046345" cy="1862078"/>
          </a:xfrm>
          <a:custGeom>
            <a:avLst/>
            <a:gdLst/>
            <a:ahLst/>
            <a:cxnLst/>
            <a:rect l="l" t="t" r="r" b="b"/>
            <a:pathLst>
              <a:path w="3046345" h="1862078">
                <a:moveTo>
                  <a:pt x="0" y="0"/>
                </a:moveTo>
                <a:lnTo>
                  <a:pt x="3046344" y="0"/>
                </a:lnTo>
                <a:lnTo>
                  <a:pt x="3046344" y="1862078"/>
                </a:lnTo>
                <a:lnTo>
                  <a:pt x="0" y="18620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408931" y="1957420"/>
            <a:ext cx="15850369" cy="8204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70"/>
              </a:lnSpc>
            </a:pPr>
            <a:r>
              <a:rPr lang="en-US" sz="3000" b="1" u="none" strike="noStrike">
                <a:solidFill>
                  <a:srgbClr val="65666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Color (HSV Histogram)</a:t>
            </a:r>
          </a:p>
          <a:p>
            <a:pPr marL="647700" lvl="1" indent="-323850" algn="l">
              <a:lnSpc>
                <a:spcPts val="5970"/>
              </a:lnSpc>
              <a:buFont typeface="Arial"/>
              <a:buChar char="•"/>
            </a:pPr>
            <a:r>
              <a:rPr lang="en-US" sz="3000" u="none" strike="noStrike">
                <a:solidFill>
                  <a:srgbClr val="656665"/>
                </a:solidFill>
                <a:latin typeface="Open Sauce"/>
                <a:ea typeface="Open Sauce"/>
                <a:cs typeface="Open Sauce"/>
                <a:sym typeface="Open Sauce"/>
              </a:rPr>
              <a:t>Converted RGB → HSV</a:t>
            </a:r>
          </a:p>
          <a:p>
            <a:pPr marL="647700" lvl="1" indent="-323850" algn="l">
              <a:lnSpc>
                <a:spcPts val="5970"/>
              </a:lnSpc>
              <a:buFont typeface="Arial"/>
              <a:buChar char="•"/>
            </a:pPr>
            <a:r>
              <a:rPr lang="en-US" sz="3000" u="none" strike="noStrike">
                <a:solidFill>
                  <a:srgbClr val="656665"/>
                </a:solidFill>
                <a:latin typeface="Open Sauce"/>
                <a:ea typeface="Open Sauce"/>
                <a:cs typeface="Open Sauce"/>
                <a:sym typeface="Open Sauce"/>
              </a:rPr>
              <a:t>Captures discoloration (yellowing, dark spots)</a:t>
            </a:r>
          </a:p>
          <a:p>
            <a:pPr algn="l">
              <a:lnSpc>
                <a:spcPts val="5970"/>
              </a:lnSpc>
            </a:pPr>
            <a:r>
              <a:rPr lang="en-US" sz="3000" b="1" u="none" strike="noStrike">
                <a:solidFill>
                  <a:srgbClr val="65666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Texture (LBP)</a:t>
            </a:r>
          </a:p>
          <a:p>
            <a:pPr marL="647700" lvl="1" indent="-323850" algn="l">
              <a:lnSpc>
                <a:spcPts val="5970"/>
              </a:lnSpc>
              <a:buFont typeface="Arial"/>
              <a:buChar char="•"/>
            </a:pPr>
            <a:r>
              <a:rPr lang="en-US" sz="3000" u="none" strike="noStrike">
                <a:solidFill>
                  <a:srgbClr val="656665"/>
                </a:solidFill>
                <a:latin typeface="Open Sauce"/>
                <a:ea typeface="Open Sauce"/>
                <a:cs typeface="Open Sauce"/>
                <a:sym typeface="Open Sauce"/>
              </a:rPr>
              <a:t>Pixel-wise comparison with neighbors</a:t>
            </a:r>
          </a:p>
          <a:p>
            <a:pPr marL="647700" lvl="1" indent="-323850" algn="l">
              <a:lnSpc>
                <a:spcPts val="5970"/>
              </a:lnSpc>
              <a:buFont typeface="Arial"/>
              <a:buChar char="•"/>
            </a:pPr>
            <a:r>
              <a:rPr lang="en-US" sz="3000" u="none" strike="noStrike">
                <a:solidFill>
                  <a:srgbClr val="656665"/>
                </a:solidFill>
                <a:latin typeface="Open Sauce"/>
                <a:ea typeface="Open Sauce"/>
                <a:cs typeface="Open Sauce"/>
                <a:sym typeface="Open Sauce"/>
              </a:rPr>
              <a:t>Detects roughness, spots, lesions</a:t>
            </a:r>
          </a:p>
          <a:p>
            <a:pPr algn="l">
              <a:lnSpc>
                <a:spcPts val="5970"/>
              </a:lnSpc>
            </a:pPr>
            <a:r>
              <a:rPr lang="en-US" sz="3000" b="1" u="none" strike="noStrike">
                <a:solidFill>
                  <a:srgbClr val="65666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Shape (Hu Moments)</a:t>
            </a:r>
          </a:p>
          <a:p>
            <a:pPr marL="647700" lvl="1" indent="-323850" algn="l">
              <a:lnSpc>
                <a:spcPts val="5970"/>
              </a:lnSpc>
              <a:buFont typeface="Arial"/>
              <a:buChar char="•"/>
            </a:pPr>
            <a:r>
              <a:rPr lang="en-US" sz="3000" u="none" strike="noStrike">
                <a:solidFill>
                  <a:srgbClr val="656665"/>
                </a:solidFill>
                <a:latin typeface="Open Sauce"/>
                <a:ea typeface="Open Sauce"/>
                <a:cs typeface="Open Sauce"/>
                <a:sym typeface="Open Sauce"/>
              </a:rPr>
              <a:t>7 invariant moments</a:t>
            </a:r>
          </a:p>
          <a:p>
            <a:pPr marL="647700" lvl="1" indent="-323850" algn="l">
              <a:lnSpc>
                <a:spcPts val="5970"/>
              </a:lnSpc>
              <a:buFont typeface="Arial"/>
              <a:buChar char="•"/>
            </a:pPr>
            <a:r>
              <a:rPr lang="en-US" sz="3000" u="none" strike="noStrike">
                <a:solidFill>
                  <a:srgbClr val="656665"/>
                </a:solidFill>
                <a:latin typeface="Open Sauce"/>
                <a:ea typeface="Open Sauce"/>
                <a:cs typeface="Open Sauce"/>
                <a:sym typeface="Open Sauce"/>
              </a:rPr>
              <a:t>Captures structure &amp; deformities</a:t>
            </a:r>
          </a:p>
          <a:p>
            <a:pPr marL="647700" lvl="1" indent="-323850" algn="l">
              <a:lnSpc>
                <a:spcPts val="5970"/>
              </a:lnSpc>
              <a:buFont typeface="Arial"/>
              <a:buChar char="•"/>
            </a:pPr>
            <a:r>
              <a:rPr lang="en-US" sz="3000" u="none" strike="noStrike">
                <a:solidFill>
                  <a:srgbClr val="656665"/>
                </a:solidFill>
                <a:latin typeface="Open Sauce"/>
                <a:ea typeface="Open Sauce"/>
                <a:cs typeface="Open Sauce"/>
                <a:sym typeface="Open Sauce"/>
              </a:rPr>
              <a:t>Invariant to rotation &amp; scaling</a:t>
            </a:r>
          </a:p>
          <a:p>
            <a:pPr algn="l">
              <a:lnSpc>
                <a:spcPts val="5970"/>
              </a:lnSpc>
            </a:pPr>
            <a:endParaRPr lang="en-US" sz="3000" u="none" strike="noStrike">
              <a:solidFill>
                <a:srgbClr val="656665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8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86372" y="914400"/>
            <a:ext cx="6046788" cy="1036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504"/>
              </a:lnSpc>
              <a:spcBef>
                <a:spcPct val="0"/>
              </a:spcBef>
            </a:pPr>
            <a:r>
              <a:rPr lang="en-US" sz="6074" i="1" u="none" strike="noStrike">
                <a:solidFill>
                  <a:srgbClr val="13664F"/>
                </a:solidFill>
                <a:latin typeface="Fraunces Italics"/>
                <a:ea typeface="Fraunces Italics"/>
                <a:cs typeface="Fraunces Italics"/>
                <a:sym typeface="Fraunces Italics"/>
              </a:rPr>
              <a:t>Feature Selection</a:t>
            </a:r>
          </a:p>
        </p:txBody>
      </p:sp>
      <p:sp>
        <p:nvSpPr>
          <p:cNvPr id="3" name="Freeform 3"/>
          <p:cNvSpPr/>
          <p:nvPr/>
        </p:nvSpPr>
        <p:spPr>
          <a:xfrm rot="6915970">
            <a:off x="15105564" y="6963494"/>
            <a:ext cx="4307473" cy="2632943"/>
          </a:xfrm>
          <a:custGeom>
            <a:avLst/>
            <a:gdLst/>
            <a:ahLst/>
            <a:cxnLst/>
            <a:rect l="l" t="t" r="r" b="b"/>
            <a:pathLst>
              <a:path w="4307473" h="2632943">
                <a:moveTo>
                  <a:pt x="0" y="0"/>
                </a:moveTo>
                <a:lnTo>
                  <a:pt x="4307472" y="0"/>
                </a:lnTo>
                <a:lnTo>
                  <a:pt x="4307472" y="2632943"/>
                </a:lnTo>
                <a:lnTo>
                  <a:pt x="0" y="26329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86372" y="2602527"/>
            <a:ext cx="15101296" cy="3699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13878" lvl="1" indent="-406939" algn="l">
              <a:lnSpc>
                <a:spcPts val="7501"/>
              </a:lnSpc>
              <a:spcBef>
                <a:spcPct val="0"/>
              </a:spcBef>
              <a:buFont typeface="Arial"/>
              <a:buChar char="•"/>
            </a:pPr>
            <a:r>
              <a:rPr lang="en-US" sz="3769" u="none" strike="noStrike">
                <a:solidFill>
                  <a:srgbClr val="656665"/>
                </a:solidFill>
                <a:latin typeface="Open Sauce"/>
                <a:ea typeface="Open Sauce"/>
                <a:cs typeface="Open Sauce"/>
                <a:sym typeface="Open Sauce"/>
              </a:rPr>
              <a:t>Used Mutual Information </a:t>
            </a:r>
          </a:p>
          <a:p>
            <a:pPr marL="813878" lvl="1" indent="-406939" algn="l">
              <a:lnSpc>
                <a:spcPts val="7501"/>
              </a:lnSpc>
              <a:spcBef>
                <a:spcPct val="0"/>
              </a:spcBef>
              <a:buFont typeface="Arial"/>
              <a:buChar char="•"/>
            </a:pPr>
            <a:r>
              <a:rPr lang="en-US" sz="3769" u="none" strike="noStrike">
                <a:solidFill>
                  <a:srgbClr val="656665"/>
                </a:solidFill>
                <a:latin typeface="Open Sauce"/>
                <a:ea typeface="Open Sauce"/>
                <a:cs typeface="Open Sauce"/>
                <a:sym typeface="Open Sauce"/>
              </a:rPr>
              <a:t>Reduced features from 801 → 100</a:t>
            </a:r>
          </a:p>
          <a:p>
            <a:pPr marL="813878" lvl="1" indent="-406939" algn="l">
              <a:lnSpc>
                <a:spcPts val="7501"/>
              </a:lnSpc>
              <a:spcBef>
                <a:spcPct val="0"/>
              </a:spcBef>
              <a:buFont typeface="Arial"/>
              <a:buChar char="•"/>
            </a:pPr>
            <a:r>
              <a:rPr lang="en-US" sz="3769" u="none" strike="noStrike">
                <a:solidFill>
                  <a:srgbClr val="656665"/>
                </a:solidFill>
                <a:latin typeface="Open Sauce"/>
                <a:ea typeface="Open Sauce"/>
                <a:cs typeface="Open Sauce"/>
                <a:sym typeface="Open Sauce"/>
              </a:rPr>
              <a:t>Removed irrelevant/redundant features</a:t>
            </a:r>
          </a:p>
          <a:p>
            <a:pPr marL="813878" lvl="1" indent="-406939" algn="l">
              <a:lnSpc>
                <a:spcPts val="7501"/>
              </a:lnSpc>
              <a:spcBef>
                <a:spcPct val="0"/>
              </a:spcBef>
              <a:buFont typeface="Arial"/>
              <a:buChar char="•"/>
            </a:pPr>
            <a:r>
              <a:rPr lang="en-US" sz="3769" u="none" strike="noStrike">
                <a:solidFill>
                  <a:srgbClr val="656665"/>
                </a:solidFill>
                <a:latin typeface="Open Sauce"/>
                <a:ea typeface="Open Sauce"/>
                <a:cs typeface="Open Sauce"/>
                <a:sym typeface="Open Sauce"/>
              </a:rPr>
              <a:t>Improved model efficiency &amp; accuracy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8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39238" y="4274503"/>
            <a:ext cx="9525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765542" y="1266381"/>
            <a:ext cx="11220721" cy="3179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97"/>
              </a:lnSpc>
            </a:pPr>
            <a:r>
              <a:rPr lang="en-US" sz="6069" i="1" spc="-297">
                <a:solidFill>
                  <a:srgbClr val="13664F"/>
                </a:solidFill>
                <a:latin typeface="Fraunces Italics"/>
                <a:ea typeface="Fraunces Italics"/>
                <a:cs typeface="Fraunces Italics"/>
                <a:sym typeface="Fraunces Italics"/>
              </a:rPr>
              <a:t>Model Training &amp; Comparisoning</a:t>
            </a:r>
          </a:p>
          <a:p>
            <a:pPr algn="ctr">
              <a:lnSpc>
                <a:spcPts val="8497"/>
              </a:lnSpc>
            </a:pPr>
            <a:endParaRPr lang="en-US" sz="6069" i="1" spc="-297">
              <a:solidFill>
                <a:srgbClr val="13664F"/>
              </a:solidFill>
              <a:latin typeface="Fraunces Italics"/>
              <a:ea typeface="Fraunces Italics"/>
              <a:cs typeface="Fraunces Italics"/>
              <a:sym typeface="Fraunces Italics"/>
            </a:endParaRPr>
          </a:p>
          <a:p>
            <a:pPr algn="ctr">
              <a:lnSpc>
                <a:spcPts val="8497"/>
              </a:lnSpc>
            </a:pPr>
            <a:endParaRPr lang="en-US" sz="6069" i="1" spc="-297">
              <a:solidFill>
                <a:srgbClr val="13664F"/>
              </a:solidFill>
              <a:latin typeface="Fraunces Italics"/>
              <a:ea typeface="Fraunces Italics"/>
              <a:cs typeface="Fraunces Italics"/>
              <a:sym typeface="Fraunces Italic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2972663"/>
            <a:ext cx="16997572" cy="3689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597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trike="noStrike">
                <a:solidFill>
                  <a:srgbClr val="656665"/>
                </a:solidFill>
                <a:latin typeface="Open Sauce"/>
                <a:ea typeface="Open Sauce"/>
                <a:cs typeface="Open Sauce"/>
                <a:sym typeface="Open Sauce"/>
              </a:rPr>
              <a:t>Models used: Support Vector Machine (SVM), K-Nearest Neighbors (KNN), Random Forest</a:t>
            </a:r>
          </a:p>
          <a:p>
            <a:pPr marL="647700" lvl="1" indent="-323850" algn="l">
              <a:lnSpc>
                <a:spcPts val="597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trike="noStrike">
                <a:solidFill>
                  <a:srgbClr val="656665"/>
                </a:solidFill>
                <a:latin typeface="Open Sauce"/>
                <a:ea typeface="Open Sauce"/>
                <a:cs typeface="Open Sauce"/>
                <a:sym typeface="Open Sauce"/>
              </a:rPr>
              <a:t>Applied StandardScaler</a:t>
            </a:r>
          </a:p>
          <a:p>
            <a:pPr marL="647700" lvl="1" indent="-323850" algn="l">
              <a:lnSpc>
                <a:spcPts val="597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trike="noStrike">
                <a:solidFill>
                  <a:srgbClr val="656665"/>
                </a:solidFill>
                <a:latin typeface="Open Sauce"/>
                <a:ea typeface="Open Sauce"/>
                <a:cs typeface="Open Sauce"/>
                <a:sym typeface="Open Sauce"/>
              </a:rPr>
              <a:t>Performed training and testing</a:t>
            </a:r>
          </a:p>
          <a:p>
            <a:pPr marL="647700" lvl="1" indent="-323850" algn="l">
              <a:lnSpc>
                <a:spcPts val="597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trike="noStrike">
                <a:solidFill>
                  <a:srgbClr val="656665"/>
                </a:solidFill>
                <a:latin typeface="Open Sauce"/>
                <a:ea typeface="Open Sauce"/>
                <a:cs typeface="Open Sauce"/>
                <a:sym typeface="Open Sauce"/>
              </a:rPr>
              <a:t>Used 5-fold cross-validation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8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2400" y="1562100"/>
            <a:ext cx="9107011" cy="1026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97"/>
              </a:lnSpc>
            </a:pPr>
            <a:r>
              <a:rPr lang="en-US" sz="6069" i="1" dirty="0">
                <a:solidFill>
                  <a:srgbClr val="13664F"/>
                </a:solidFill>
                <a:latin typeface="Fraunces Italics"/>
                <a:ea typeface="Fraunces Italics"/>
                <a:cs typeface="Fraunces Italics"/>
                <a:sym typeface="Fraunces Italics"/>
              </a:rPr>
              <a:t>Evaluation Metrics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006537"/>
            <a:ext cx="7610277" cy="3012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5184" lvl="1" indent="-442592" algn="l">
              <a:lnSpc>
                <a:spcPts val="8158"/>
              </a:lnSpc>
              <a:spcBef>
                <a:spcPct val="0"/>
              </a:spcBef>
              <a:buFont typeface="Arial"/>
              <a:buChar char="•"/>
            </a:pPr>
            <a:r>
              <a:rPr lang="en-US" sz="4099" u="none" strike="noStrike" dirty="0">
                <a:solidFill>
                  <a:srgbClr val="656665"/>
                </a:solidFill>
                <a:latin typeface="Open Sauce"/>
                <a:ea typeface="Open Sauce"/>
                <a:cs typeface="Open Sauce"/>
                <a:sym typeface="Open Sauce"/>
              </a:rPr>
              <a:t>Accuracy</a:t>
            </a:r>
          </a:p>
          <a:p>
            <a:pPr marL="1014092" lvl="1" indent="-571500" algn="l">
              <a:lnSpc>
                <a:spcPts val="8158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4099" u="none" strike="noStrike" dirty="0">
                <a:solidFill>
                  <a:srgbClr val="656665"/>
                </a:solidFill>
                <a:latin typeface="Open Sauce"/>
                <a:ea typeface="Open Sauce"/>
                <a:cs typeface="Open Sauce"/>
                <a:sym typeface="Open Sauce"/>
              </a:rPr>
              <a:t>F1-Score</a:t>
            </a:r>
          </a:p>
          <a:p>
            <a:pPr marL="885184" lvl="1" indent="-442592" algn="l">
              <a:lnSpc>
                <a:spcPts val="8158"/>
              </a:lnSpc>
              <a:spcBef>
                <a:spcPct val="0"/>
              </a:spcBef>
              <a:buFont typeface="Arial"/>
              <a:buChar char="•"/>
            </a:pPr>
            <a:r>
              <a:rPr lang="en-US" sz="4099" u="none" strike="noStrike" dirty="0">
                <a:solidFill>
                  <a:srgbClr val="656665"/>
                </a:solidFill>
                <a:latin typeface="Open Sauce"/>
                <a:ea typeface="Open Sauce"/>
                <a:cs typeface="Open Sauce"/>
                <a:sym typeface="Open Sauce"/>
              </a:rPr>
              <a:t>Cross-validation accuracy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8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39958" y="1566092"/>
            <a:ext cx="2544961" cy="1026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97"/>
              </a:lnSpc>
            </a:pPr>
            <a:r>
              <a:rPr lang="en-US" sz="6069" i="1">
                <a:solidFill>
                  <a:srgbClr val="13664F"/>
                </a:solidFill>
                <a:latin typeface="Fraunces Italics"/>
                <a:ea typeface="Fraunces Italics"/>
                <a:cs typeface="Fraunces Italics"/>
                <a:sym typeface="Fraunces Italics"/>
              </a:rPr>
              <a:t>Results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37531" y="3015550"/>
            <a:ext cx="14120615" cy="3534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37" lvl="1" indent="-388618" algn="l">
              <a:lnSpc>
                <a:spcPts val="7163"/>
              </a:lnSpc>
              <a:spcBef>
                <a:spcPct val="0"/>
              </a:spcBef>
              <a:buFont typeface="Arial"/>
              <a:buChar char="•"/>
            </a:pPr>
            <a:r>
              <a:rPr lang="en-US" sz="3599" u="none" strike="noStrike">
                <a:solidFill>
                  <a:srgbClr val="656665"/>
                </a:solidFill>
                <a:latin typeface="Open Sauce"/>
                <a:ea typeface="Open Sauce"/>
                <a:cs typeface="Open Sauce"/>
                <a:sym typeface="Open Sauce"/>
              </a:rPr>
              <a:t>SVM — Accuracy: 80.08%, F1: 79.64%, CV: 78.74%</a:t>
            </a:r>
          </a:p>
          <a:p>
            <a:pPr marL="777237" lvl="1" indent="-388618" algn="l">
              <a:lnSpc>
                <a:spcPts val="7163"/>
              </a:lnSpc>
              <a:spcBef>
                <a:spcPct val="0"/>
              </a:spcBef>
              <a:buFont typeface="Arial"/>
              <a:buChar char="•"/>
            </a:pPr>
            <a:r>
              <a:rPr lang="en-US" sz="3599" u="none" strike="noStrike">
                <a:solidFill>
                  <a:srgbClr val="656665"/>
                </a:solidFill>
                <a:latin typeface="Open Sauce"/>
                <a:ea typeface="Open Sauce"/>
                <a:cs typeface="Open Sauce"/>
                <a:sym typeface="Open Sauce"/>
              </a:rPr>
              <a:t>KNN — Accuracy: 75.97%, F1: 75.90%, CV: 74.84%</a:t>
            </a:r>
          </a:p>
          <a:p>
            <a:pPr marL="777237" lvl="1" indent="-388618" algn="l">
              <a:lnSpc>
                <a:spcPts val="7163"/>
              </a:lnSpc>
              <a:spcBef>
                <a:spcPct val="0"/>
              </a:spcBef>
              <a:buFont typeface="Arial"/>
              <a:buChar char="•"/>
            </a:pPr>
            <a:r>
              <a:rPr lang="en-US" sz="3599" u="none" strike="noStrike">
                <a:solidFill>
                  <a:srgbClr val="656665"/>
                </a:solidFill>
                <a:latin typeface="Open Sauce"/>
                <a:ea typeface="Open Sauce"/>
                <a:cs typeface="Open Sauce"/>
                <a:sym typeface="Open Sauce"/>
              </a:rPr>
              <a:t>Random Forest — Accuracy: 83.35%, F1: 82.84%, CV: 82.15%</a:t>
            </a:r>
          </a:p>
          <a:p>
            <a:pPr marL="777237" lvl="1" indent="-388618" algn="l">
              <a:lnSpc>
                <a:spcPts val="7163"/>
              </a:lnSpc>
              <a:spcBef>
                <a:spcPct val="0"/>
              </a:spcBef>
              <a:buFont typeface="Arial"/>
              <a:buChar char="•"/>
            </a:pPr>
            <a:r>
              <a:rPr lang="en-US" sz="3599" u="none" strike="noStrike">
                <a:solidFill>
                  <a:srgbClr val="656665"/>
                </a:solidFill>
                <a:latin typeface="Open Sauce"/>
                <a:ea typeface="Open Sauce"/>
                <a:cs typeface="Open Sauce"/>
                <a:sym typeface="Open Sauce"/>
              </a:rPr>
              <a:t>Best Model: Random Forest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8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38200" y="1333500"/>
            <a:ext cx="8997196" cy="1026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97"/>
              </a:lnSpc>
            </a:pPr>
            <a:r>
              <a:rPr lang="en-US" sz="6069" i="1" dirty="0">
                <a:solidFill>
                  <a:srgbClr val="13664F"/>
                </a:solidFill>
                <a:latin typeface="Fraunces Italics"/>
                <a:ea typeface="Fraunces Italics"/>
                <a:cs typeface="Fraunces Italics"/>
                <a:sym typeface="Fraunces Italics"/>
              </a:rPr>
              <a:t>Feature Comparison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39705" y="2667126"/>
            <a:ext cx="11079163" cy="4666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16" lvl="1" indent="-410208" algn="l">
              <a:lnSpc>
                <a:spcPts val="7561"/>
              </a:lnSpc>
              <a:spcBef>
                <a:spcPct val="0"/>
              </a:spcBef>
              <a:buFont typeface="Arial"/>
              <a:buChar char="•"/>
            </a:pPr>
            <a:r>
              <a:rPr lang="en-US" sz="3799" u="none" strike="noStrike">
                <a:solidFill>
                  <a:srgbClr val="656665"/>
                </a:solidFill>
                <a:latin typeface="Open Sauce"/>
                <a:ea typeface="Open Sauce"/>
                <a:cs typeface="Open Sauce"/>
                <a:sym typeface="Open Sauce"/>
              </a:rPr>
              <a:t>Color Histogram: 92.54%</a:t>
            </a:r>
          </a:p>
          <a:p>
            <a:pPr marL="820416" lvl="1" indent="-410208" algn="l">
              <a:lnSpc>
                <a:spcPts val="7561"/>
              </a:lnSpc>
              <a:spcBef>
                <a:spcPct val="0"/>
              </a:spcBef>
              <a:buFont typeface="Arial"/>
              <a:buChar char="•"/>
            </a:pPr>
            <a:r>
              <a:rPr lang="en-US" sz="3799" u="none" strike="noStrike">
                <a:solidFill>
                  <a:srgbClr val="656665"/>
                </a:solidFill>
                <a:latin typeface="Open Sauce"/>
                <a:ea typeface="Open Sauce"/>
                <a:cs typeface="Open Sauce"/>
                <a:sym typeface="Open Sauce"/>
              </a:rPr>
              <a:t>LBP: 51.99%</a:t>
            </a:r>
          </a:p>
          <a:p>
            <a:pPr marL="820416" lvl="1" indent="-410208" algn="l">
              <a:lnSpc>
                <a:spcPts val="7561"/>
              </a:lnSpc>
              <a:spcBef>
                <a:spcPct val="0"/>
              </a:spcBef>
              <a:buFont typeface="Arial"/>
              <a:buChar char="•"/>
            </a:pPr>
            <a:r>
              <a:rPr lang="en-US" sz="3799" u="none" strike="noStrike">
                <a:solidFill>
                  <a:srgbClr val="656665"/>
                </a:solidFill>
                <a:latin typeface="Open Sauce"/>
                <a:ea typeface="Open Sauce"/>
                <a:cs typeface="Open Sauce"/>
                <a:sym typeface="Open Sauce"/>
              </a:rPr>
              <a:t>Hu Moments: 27.47%</a:t>
            </a:r>
          </a:p>
          <a:p>
            <a:pPr marL="820416" lvl="1" indent="-410208" algn="l">
              <a:lnSpc>
                <a:spcPts val="7561"/>
              </a:lnSpc>
              <a:spcBef>
                <a:spcPct val="0"/>
              </a:spcBef>
              <a:buFont typeface="Arial"/>
              <a:buChar char="•"/>
            </a:pPr>
            <a:r>
              <a:rPr lang="en-US" sz="3799" u="none" strike="noStrike">
                <a:solidFill>
                  <a:srgbClr val="656665"/>
                </a:solidFill>
                <a:latin typeface="Open Sauce"/>
                <a:ea typeface="Open Sauce"/>
                <a:cs typeface="Open Sauce"/>
                <a:sym typeface="Open Sauce"/>
              </a:rPr>
              <a:t>Combined Features: 93.31%</a:t>
            </a:r>
          </a:p>
          <a:p>
            <a:pPr marL="820416" lvl="1" indent="-410208" algn="l">
              <a:lnSpc>
                <a:spcPts val="7561"/>
              </a:lnSpc>
              <a:spcBef>
                <a:spcPct val="0"/>
              </a:spcBef>
              <a:buFont typeface="Arial"/>
              <a:buChar char="•"/>
            </a:pPr>
            <a:r>
              <a:rPr lang="en-US" sz="3799" u="none" strike="noStrike">
                <a:solidFill>
                  <a:srgbClr val="656665"/>
                </a:solidFill>
                <a:latin typeface="Open Sauce"/>
                <a:ea typeface="Open Sauce"/>
                <a:cs typeface="Open Sauce"/>
                <a:sym typeface="Open Sauce"/>
              </a:rPr>
              <a:t>Combining features gives best performance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8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282777"/>
            <a:ext cx="6594527" cy="1026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97"/>
              </a:lnSpc>
            </a:pPr>
            <a:r>
              <a:rPr lang="en-US" sz="6069" i="1">
                <a:solidFill>
                  <a:srgbClr val="13664F"/>
                </a:solidFill>
                <a:latin typeface="Fraunces Italics"/>
                <a:ea typeface="Fraunces Italics"/>
                <a:cs typeface="Fraunces Italics"/>
                <a:sym typeface="Fraunces Italics"/>
              </a:rPr>
              <a:t>Visualization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63629" y="2548715"/>
            <a:ext cx="7544503" cy="2786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19700" lvl="1" indent="-409850" algn="l">
              <a:lnSpc>
                <a:spcPts val="7555"/>
              </a:lnSpc>
              <a:spcBef>
                <a:spcPct val="0"/>
              </a:spcBef>
              <a:buFont typeface="Arial"/>
              <a:buChar char="•"/>
            </a:pPr>
            <a:r>
              <a:rPr lang="en-US" sz="3796" u="none" strike="noStrike">
                <a:solidFill>
                  <a:srgbClr val="656665"/>
                </a:solidFill>
                <a:latin typeface="Open Sauce"/>
                <a:ea typeface="Open Sauce"/>
                <a:cs typeface="Open Sauce"/>
                <a:sym typeface="Open Sauce"/>
              </a:rPr>
              <a:t>Model comparison bar graph</a:t>
            </a:r>
          </a:p>
          <a:p>
            <a:pPr marL="819700" lvl="1" indent="-409850" algn="l">
              <a:lnSpc>
                <a:spcPts val="7555"/>
              </a:lnSpc>
              <a:spcBef>
                <a:spcPct val="0"/>
              </a:spcBef>
              <a:buFont typeface="Arial"/>
              <a:buChar char="•"/>
            </a:pPr>
            <a:r>
              <a:rPr lang="en-US" sz="3796" u="none" strike="noStrike">
                <a:solidFill>
                  <a:srgbClr val="656665"/>
                </a:solidFill>
                <a:latin typeface="Open Sauce"/>
                <a:ea typeface="Open Sauce"/>
                <a:cs typeface="Open Sauce"/>
                <a:sym typeface="Open Sauce"/>
              </a:rPr>
              <a:t>Feature comparison graph</a:t>
            </a:r>
          </a:p>
          <a:p>
            <a:pPr algn="l">
              <a:lnSpc>
                <a:spcPts val="7555"/>
              </a:lnSpc>
              <a:spcBef>
                <a:spcPct val="0"/>
              </a:spcBef>
            </a:pPr>
            <a:endParaRPr lang="en-US" sz="3796" u="none" strike="noStrike">
              <a:solidFill>
                <a:srgbClr val="656665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8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69005" y="597706"/>
            <a:ext cx="8974605" cy="5801873"/>
          </a:xfrm>
          <a:custGeom>
            <a:avLst/>
            <a:gdLst/>
            <a:ahLst/>
            <a:cxnLst/>
            <a:rect l="l" t="t" r="r" b="b"/>
            <a:pathLst>
              <a:path w="8974605" h="5801873">
                <a:moveTo>
                  <a:pt x="0" y="0"/>
                </a:moveTo>
                <a:lnTo>
                  <a:pt x="8974605" y="0"/>
                </a:lnTo>
                <a:lnTo>
                  <a:pt x="8974605" y="5801873"/>
                </a:lnTo>
                <a:lnTo>
                  <a:pt x="0" y="58018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43" r="-2643" b="-73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733466" y="641874"/>
            <a:ext cx="8145332" cy="5713537"/>
          </a:xfrm>
          <a:custGeom>
            <a:avLst/>
            <a:gdLst/>
            <a:ahLst/>
            <a:cxnLst/>
            <a:rect l="l" t="t" r="r" b="b"/>
            <a:pathLst>
              <a:path w="8145332" h="5713537">
                <a:moveTo>
                  <a:pt x="0" y="0"/>
                </a:moveTo>
                <a:lnTo>
                  <a:pt x="8145332" y="0"/>
                </a:lnTo>
                <a:lnTo>
                  <a:pt x="8145332" y="5713537"/>
                </a:lnTo>
                <a:lnTo>
                  <a:pt x="0" y="57135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54927" y="1219200"/>
            <a:ext cx="8296371" cy="2085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41"/>
              </a:lnSpc>
            </a:pPr>
            <a:r>
              <a:rPr lang="en-US" sz="6069" i="1">
                <a:solidFill>
                  <a:srgbClr val="B7ED3F"/>
                </a:solidFill>
                <a:latin typeface="Fraunces Italics"/>
                <a:ea typeface="Fraunces Italics"/>
                <a:cs typeface="Fraunces Italics"/>
                <a:sym typeface="Fraunces Italics"/>
              </a:rPr>
              <a:t>Deployed Application</a:t>
            </a:r>
          </a:p>
          <a:p>
            <a:pPr algn="l">
              <a:lnSpc>
                <a:spcPts val="5341"/>
              </a:lnSpc>
            </a:pPr>
            <a:endParaRPr lang="en-US" sz="6069" i="1">
              <a:solidFill>
                <a:srgbClr val="B7ED3F"/>
              </a:solidFill>
              <a:latin typeface="Fraunces Italics"/>
              <a:ea typeface="Fraunces Italics"/>
              <a:cs typeface="Fraunces Italics"/>
              <a:sym typeface="Fraunces Italics"/>
            </a:endParaRPr>
          </a:p>
          <a:p>
            <a:pPr algn="l">
              <a:lnSpc>
                <a:spcPts val="5341"/>
              </a:lnSpc>
            </a:pPr>
            <a:endParaRPr lang="en-US" sz="6069" i="1">
              <a:solidFill>
                <a:srgbClr val="B7ED3F"/>
              </a:solidFill>
              <a:latin typeface="Fraunces Italics"/>
              <a:ea typeface="Fraunces Italics"/>
              <a:cs typeface="Fraunces Italics"/>
              <a:sym typeface="Fraunces Itali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475501" y="2697867"/>
            <a:ext cx="8655223" cy="3651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3"/>
              </a:lnSpc>
            </a:pPr>
            <a:endParaRPr/>
          </a:p>
          <a:p>
            <a:pPr marL="754686" lvl="1" indent="-377343" algn="l">
              <a:lnSpc>
                <a:spcPts val="4893"/>
              </a:lnSpc>
              <a:buFont typeface="Arial"/>
              <a:buChar char="•"/>
            </a:pPr>
            <a:r>
              <a:rPr lang="en-US" sz="3495" i="1">
                <a:solidFill>
                  <a:srgbClr val="E4E8DB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Built using Streamlit</a:t>
            </a:r>
          </a:p>
          <a:p>
            <a:pPr marL="754686" lvl="1" indent="-377343" algn="l">
              <a:lnSpc>
                <a:spcPts val="4893"/>
              </a:lnSpc>
              <a:buFont typeface="Arial"/>
              <a:buChar char="•"/>
            </a:pPr>
            <a:r>
              <a:rPr lang="en-US" sz="3495" i="1">
                <a:solidFill>
                  <a:srgbClr val="E4E8DB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User uploads leaf image</a:t>
            </a:r>
          </a:p>
          <a:p>
            <a:pPr marL="754686" lvl="1" indent="-377343" algn="l">
              <a:lnSpc>
                <a:spcPts val="4893"/>
              </a:lnSpc>
              <a:buFont typeface="Arial"/>
              <a:buChar char="•"/>
            </a:pPr>
            <a:r>
              <a:rPr lang="en-US" sz="3495" i="1">
                <a:solidFill>
                  <a:srgbClr val="E4E8DB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System predicts disease instantly</a:t>
            </a:r>
          </a:p>
          <a:p>
            <a:pPr marL="754686" lvl="1" indent="-377343" algn="l">
              <a:lnSpc>
                <a:spcPts val="4893"/>
              </a:lnSpc>
              <a:buFont typeface="Arial"/>
              <a:buChar char="•"/>
            </a:pPr>
            <a:r>
              <a:rPr lang="en-US" sz="3495" i="1">
                <a:solidFill>
                  <a:srgbClr val="E4E8DB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Uses trained Random Forest model</a:t>
            </a:r>
          </a:p>
          <a:p>
            <a:pPr algn="l">
              <a:lnSpc>
                <a:spcPts val="4893"/>
              </a:lnSpc>
            </a:pPr>
            <a:endParaRPr lang="en-US" sz="3495" i="1">
              <a:solidFill>
                <a:srgbClr val="E4E8DB"/>
              </a:solidFill>
              <a:latin typeface="Open Sauce Italics"/>
              <a:ea typeface="Open Sauce Italics"/>
              <a:cs typeface="Open Sauce Italics"/>
              <a:sym typeface="Open Sauce Itali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799590" y="4138761"/>
            <a:ext cx="13079480" cy="5682726"/>
          </a:xfrm>
          <a:custGeom>
            <a:avLst/>
            <a:gdLst/>
            <a:ahLst/>
            <a:cxnLst/>
            <a:rect l="l" t="t" r="r" b="b"/>
            <a:pathLst>
              <a:path w="13079480" h="5682726">
                <a:moveTo>
                  <a:pt x="0" y="0"/>
                </a:moveTo>
                <a:lnTo>
                  <a:pt x="13079479" y="0"/>
                </a:lnTo>
                <a:lnTo>
                  <a:pt x="13079479" y="5682726"/>
                </a:lnTo>
                <a:lnTo>
                  <a:pt x="0" y="56827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6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654927" y="1219200"/>
            <a:ext cx="8296371" cy="7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41"/>
              </a:lnSpc>
            </a:pPr>
            <a:r>
              <a:rPr lang="en-US" sz="6069" i="1">
                <a:solidFill>
                  <a:srgbClr val="B7ED3F"/>
                </a:solidFill>
                <a:latin typeface="Fraunces Italics"/>
                <a:ea typeface="Fraunces Italics"/>
                <a:cs typeface="Fraunces Italics"/>
                <a:sym typeface="Fraunces Italics"/>
              </a:rPr>
              <a:t>Output Demo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8777" y="2368286"/>
            <a:ext cx="8655223" cy="1216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4685" lvl="1" indent="-377343" algn="l">
              <a:lnSpc>
                <a:spcPts val="4893"/>
              </a:lnSpc>
              <a:buFont typeface="Arial"/>
              <a:buChar char="•"/>
            </a:pPr>
            <a:r>
              <a:rPr lang="en-US" sz="3495">
                <a:solidFill>
                  <a:srgbClr val="E4E8DB"/>
                </a:solidFill>
                <a:latin typeface="Open Sauce"/>
                <a:ea typeface="Open Sauce"/>
                <a:cs typeface="Open Sauce"/>
                <a:sym typeface="Open Sauce"/>
              </a:rPr>
              <a:t>Input: Leaf Image</a:t>
            </a:r>
          </a:p>
          <a:p>
            <a:pPr marL="754685" lvl="1" indent="-377343" algn="l">
              <a:lnSpc>
                <a:spcPts val="4893"/>
              </a:lnSpc>
              <a:buFont typeface="Arial"/>
              <a:buChar char="•"/>
            </a:pPr>
            <a:r>
              <a:rPr lang="en-US" sz="3495">
                <a:solidFill>
                  <a:srgbClr val="E4E8DB"/>
                </a:solidFill>
                <a:latin typeface="Open Sauce"/>
                <a:ea typeface="Open Sauce"/>
                <a:cs typeface="Open Sauce"/>
                <a:sym typeface="Open Sauce"/>
              </a:rPr>
              <a:t>Output: Predicted Disease Label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8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06513" y="1207240"/>
            <a:ext cx="4570487" cy="1026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97"/>
              </a:lnSpc>
            </a:pPr>
            <a:r>
              <a:rPr lang="en-US" sz="6069" i="1">
                <a:solidFill>
                  <a:srgbClr val="4B661F"/>
                </a:solidFill>
                <a:latin typeface="Fraunces Italics"/>
                <a:ea typeface="Fraunces Italics"/>
                <a:cs typeface="Fraunces Italics"/>
                <a:sym typeface="Fraunces Italics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70223" y="2484689"/>
            <a:ext cx="14821992" cy="4430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42" lvl="1" indent="-485771" algn="l">
              <a:lnSpc>
                <a:spcPts val="8954"/>
              </a:lnSpc>
              <a:spcBef>
                <a:spcPct val="0"/>
              </a:spcBef>
              <a:buFont typeface="Arial"/>
              <a:buChar char="•"/>
            </a:pPr>
            <a:r>
              <a:rPr lang="en-US" sz="4499" u="none" strike="noStrike">
                <a:solidFill>
                  <a:srgbClr val="656665"/>
                </a:solidFill>
                <a:latin typeface="Open Sauce"/>
                <a:ea typeface="Open Sauce"/>
                <a:cs typeface="Open Sauce"/>
                <a:sym typeface="Open Sauce"/>
              </a:rPr>
              <a:t>Machine Learning enables early disease detection</a:t>
            </a:r>
          </a:p>
          <a:p>
            <a:pPr marL="993131" lvl="1" indent="-496566" algn="l">
              <a:lnSpc>
                <a:spcPts val="9153"/>
              </a:lnSpc>
              <a:spcBef>
                <a:spcPct val="0"/>
              </a:spcBef>
              <a:buFont typeface="Arial"/>
              <a:buChar char="•"/>
            </a:pPr>
            <a:r>
              <a:rPr lang="en-US" sz="4599" u="none" strike="noStrike">
                <a:solidFill>
                  <a:srgbClr val="656665"/>
                </a:solidFill>
                <a:latin typeface="Open Sauce"/>
                <a:ea typeface="Open Sauce"/>
                <a:cs typeface="Open Sauce"/>
                <a:sym typeface="Open Sauce"/>
              </a:rPr>
              <a:t>Improves agricultural productivity</a:t>
            </a:r>
          </a:p>
          <a:p>
            <a:pPr marL="971542" lvl="1" indent="-485771" algn="l">
              <a:lnSpc>
                <a:spcPts val="8954"/>
              </a:lnSpc>
              <a:spcBef>
                <a:spcPct val="0"/>
              </a:spcBef>
              <a:buFont typeface="Arial"/>
              <a:buChar char="•"/>
            </a:pPr>
            <a:r>
              <a:rPr lang="en-US" sz="4499" u="none" strike="noStrike">
                <a:solidFill>
                  <a:srgbClr val="656665"/>
                </a:solidFill>
                <a:latin typeface="Open Sauce"/>
                <a:ea typeface="Open Sauce"/>
                <a:cs typeface="Open Sauce"/>
                <a:sym typeface="Open Sauce"/>
              </a:rPr>
              <a:t>System is efficient and easy to use</a:t>
            </a:r>
          </a:p>
          <a:p>
            <a:pPr marL="949952" lvl="1" indent="-474976" algn="l">
              <a:lnSpc>
                <a:spcPts val="8755"/>
              </a:lnSpc>
              <a:spcBef>
                <a:spcPct val="0"/>
              </a:spcBef>
              <a:buFont typeface="Arial"/>
              <a:buChar char="•"/>
            </a:pPr>
            <a:r>
              <a:rPr lang="en-US" sz="4399" u="none" strike="noStrike">
                <a:solidFill>
                  <a:srgbClr val="656665"/>
                </a:solidFill>
                <a:latin typeface="Open Sauce"/>
                <a:ea typeface="Open Sauce"/>
                <a:cs typeface="Open Sauce"/>
                <a:sym typeface="Open Sauce"/>
              </a:rPr>
              <a:t> Random Forest performed best among models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8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19051" y="1183317"/>
            <a:ext cx="4427339" cy="1026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97"/>
              </a:lnSpc>
            </a:pPr>
            <a:r>
              <a:rPr lang="en-US" sz="6069" i="1">
                <a:solidFill>
                  <a:srgbClr val="4B661F"/>
                </a:solidFill>
                <a:latin typeface="Fraunces Italics"/>
                <a:ea typeface="Fraunces Italics"/>
                <a:cs typeface="Fraunces Italics"/>
                <a:sym typeface="Fraunces Italics"/>
              </a:rPr>
              <a:t>Future Work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446589"/>
            <a:ext cx="15406092" cy="5012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01079" lvl="1" indent="-550539" algn="l">
              <a:lnSpc>
                <a:spcPts val="10148"/>
              </a:lnSpc>
              <a:spcBef>
                <a:spcPct val="0"/>
              </a:spcBef>
              <a:buFont typeface="Arial"/>
              <a:buChar char="•"/>
            </a:pPr>
            <a:r>
              <a:rPr lang="en-US" sz="5099" u="none" strike="noStrike">
                <a:solidFill>
                  <a:srgbClr val="656665"/>
                </a:solidFill>
                <a:latin typeface="Open Sauce"/>
                <a:ea typeface="Open Sauce"/>
                <a:cs typeface="Open Sauce"/>
                <a:sym typeface="Open Sauce"/>
              </a:rPr>
              <a:t> Use Deep Learning (CNN) for better accuracy</a:t>
            </a:r>
          </a:p>
          <a:p>
            <a:pPr marL="1101079" lvl="1" indent="-550539" algn="l">
              <a:lnSpc>
                <a:spcPts val="10148"/>
              </a:lnSpc>
              <a:spcBef>
                <a:spcPct val="0"/>
              </a:spcBef>
              <a:buFont typeface="Arial"/>
              <a:buChar char="•"/>
            </a:pPr>
            <a:r>
              <a:rPr lang="en-US" sz="5099" u="none" strike="noStrike">
                <a:solidFill>
                  <a:srgbClr val="656665"/>
                </a:solidFill>
                <a:latin typeface="Open Sauce"/>
                <a:ea typeface="Open Sauce"/>
                <a:cs typeface="Open Sauce"/>
                <a:sym typeface="Open Sauce"/>
              </a:rPr>
              <a:t> Develop mobile application</a:t>
            </a:r>
          </a:p>
          <a:p>
            <a:pPr marL="1101079" lvl="1" indent="-550539" algn="l">
              <a:lnSpc>
                <a:spcPts val="10148"/>
              </a:lnSpc>
              <a:spcBef>
                <a:spcPct val="0"/>
              </a:spcBef>
              <a:buFont typeface="Arial"/>
              <a:buChar char="•"/>
            </a:pPr>
            <a:r>
              <a:rPr lang="en-US" sz="5099" u="none" strike="noStrike">
                <a:solidFill>
                  <a:srgbClr val="656665"/>
                </a:solidFill>
                <a:latin typeface="Open Sauce"/>
                <a:ea typeface="Open Sauce"/>
                <a:cs typeface="Open Sauce"/>
                <a:sym typeface="Open Sauce"/>
              </a:rPr>
              <a:t>Real-time disease detection</a:t>
            </a:r>
          </a:p>
          <a:p>
            <a:pPr marL="1101079" lvl="1" indent="-550539" algn="l">
              <a:lnSpc>
                <a:spcPts val="10148"/>
              </a:lnSpc>
              <a:spcBef>
                <a:spcPct val="0"/>
              </a:spcBef>
              <a:buFont typeface="Arial"/>
              <a:buChar char="•"/>
            </a:pPr>
            <a:r>
              <a:rPr lang="en-US" sz="5099" u="none" strike="noStrike">
                <a:solidFill>
                  <a:srgbClr val="656665"/>
                </a:solidFill>
                <a:latin typeface="Open Sauce"/>
                <a:ea typeface="Open Sauce"/>
                <a:cs typeface="Open Sauce"/>
                <a:sym typeface="Open Sauce"/>
              </a:rPr>
              <a:t> Expand dataset for more crops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8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38800" y="3595699"/>
            <a:ext cx="6303407" cy="1576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  <a:spcBef>
                <a:spcPct val="0"/>
              </a:spcBef>
            </a:pPr>
            <a:r>
              <a:rPr lang="en-US" sz="9200" b="1" dirty="0">
                <a:solidFill>
                  <a:srgbClr val="4B7219"/>
                </a:solidFill>
                <a:latin typeface="Fraunces Bold"/>
                <a:ea typeface="Fraunces Bold"/>
                <a:cs typeface="Fraunces Bold"/>
                <a:sym typeface="Fraunce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553</Words>
  <Application>Microsoft Office PowerPoint</Application>
  <PresentationFormat>Custom</PresentationFormat>
  <Paragraphs>117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Open Sauce</vt:lpstr>
      <vt:lpstr>Open Sauce Bold</vt:lpstr>
      <vt:lpstr>Open Sauce Italics</vt:lpstr>
      <vt:lpstr>Fraunces Bold</vt:lpstr>
      <vt:lpstr>Calibri</vt:lpstr>
      <vt:lpstr>Fraunces Italics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Predictive project 1 Presentation</dc:title>
  <dc:creator>Aparna Sreenivasan</dc:creator>
  <cp:lastModifiedBy>Aparna Sreenivasan</cp:lastModifiedBy>
  <cp:revision>2</cp:revision>
  <dcterms:created xsi:type="dcterms:W3CDTF">2006-08-16T00:00:00Z</dcterms:created>
  <dcterms:modified xsi:type="dcterms:W3CDTF">2026-04-21T03:38:35Z</dcterms:modified>
  <dc:identifier>DAHHZSizDVA</dc:identifier>
</cp:coreProperties>
</file>